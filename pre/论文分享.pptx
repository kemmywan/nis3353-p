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2" r:id="rId1"/>
  </p:sldMasterIdLst>
  <p:notesMasterIdLst>
    <p:notesMasterId r:id="rId14"/>
  </p:notesMasterIdLst>
  <p:handoutMasterIdLst>
    <p:handoutMasterId r:id="rId15"/>
  </p:handoutMasterIdLst>
  <p:sldIdLst>
    <p:sldId id="259" r:id="rId2"/>
    <p:sldId id="325" r:id="rId3"/>
    <p:sldId id="326" r:id="rId4"/>
    <p:sldId id="327" r:id="rId5"/>
    <p:sldId id="328" r:id="rId6"/>
    <p:sldId id="329" r:id="rId7"/>
    <p:sldId id="330" r:id="rId8"/>
    <p:sldId id="331" r:id="rId9"/>
    <p:sldId id="332" r:id="rId10"/>
    <p:sldId id="333" r:id="rId11"/>
    <p:sldId id="334" r:id="rId12"/>
    <p:sldId id="282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6EAA"/>
    <a:srgbClr val="7FB1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4" autoAdjust="0"/>
    <p:restoredTop sz="80138" autoAdjust="0"/>
  </p:normalViewPr>
  <p:slideViewPr>
    <p:cSldViewPr snapToGrid="0">
      <p:cViewPr>
        <p:scale>
          <a:sx n="75" d="100"/>
          <a:sy n="75" d="100"/>
        </p:scale>
        <p:origin x="1476" y="47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496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2C1FBA-CF23-45CA-A289-03E32D160964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F2B0C5-C56D-47E9-BCFE-D990A940F1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700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966BD8-0FC1-456F-BDC6-7D0CA8E36566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CFC841-E2E1-4802-8701-94EA307E9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4598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Time Cost: 8h 34min</a:t>
            </a:r>
          </a:p>
          <a:p>
            <a:endParaRPr lang="en-US" altLang="zh-CN" dirty="0"/>
          </a:p>
          <a:p>
            <a:r>
              <a:rPr lang="en-US" altLang="zh-CN" dirty="0"/>
              <a:t>2025 IEEE Symposium on Security and Privacy (SP)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FC841-E2E1-4802-8701-94EA307E94B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22320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A4FAA-0D36-3FE7-E1EC-5949B7441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F6FDA6D-9B9D-C553-5884-F770495CEA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FF03A65-06E0-25F3-C0B9-95E502ACA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在搭建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时，为了进行价值对齐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(value alignment)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，一般使用方式就是用一系列人工标注的数据（即用于判断给出的回答是否符合人类价值观）训练出一个奖励模型（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reward model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），再利用这个模型和大模型的输出结果去交互筛选，来帮助大模型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符合规定的，符合价值观的回答。这其中奖励模型扮演的是一个考试中的“考官”角色。</a:t>
            </a:r>
            <a:endParaRPr lang="en-US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更进一步的，在实际应用的过程中，模型还将从用户的反馈中采集“偏好成对比较数据”，用于提供个性化的服务，本意是希望使得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ai-agent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与客户的交互效果更好，但是这也容易被用于进行攻击。例如，大魔王可能会通过创建虚假用户账户，或入侵合法用户，从而用他的偏好响应数据填充“成对比较数据集”以实现自己的目的，也就是奖励模型遭到投毒，从而效果大打折扣，甚至会被用于危险行为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Label-flipping Attacks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标签翻转攻击，是投毒攻击的一种，通过将部分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label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改错，来让模型学习到错误的规律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DC47F1-70E8-E832-2E7A-49943A112E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FC841-E2E1-4802-8701-94EA307E94B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30937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FC841-E2E1-4802-8701-94EA307E94B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76437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假设有一组对象（如选手、方案、图片等），编号为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C...  </a:t>
            </a: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模型的核心思想是：  </a:t>
            </a: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每个对象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\(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\)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关联一个“优势值”或“能力值”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\(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beta_i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\)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（有时记为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\(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w_i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\)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），代表其整体优劣程度。</a:t>
            </a:r>
          </a:p>
          <a:p>
            <a:endParaRPr lang="en-US" altLang="zh-CN" dirty="0"/>
          </a:p>
          <a:p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观测到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\(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o_i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\)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后，数据集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的总似然为各个数据点概率的乘积（或对数形式的和）。</a:t>
            </a: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损失函数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就是负对数似然（负号是因为机器学习普遍以损失最小化为目标）。</a:t>
            </a:r>
          </a:p>
          <a:p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基于实际情况，可以假设攻击者仅能修改有限数目的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label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，并且假设其不能改变除标签外的其他东西（特征向量）。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其中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\(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\theta \)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是在投毒过后的数据集中，我们通过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MLE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优化得到的模型最优推理参数。</a:t>
            </a:r>
          </a:p>
          <a:p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实际应用中我们没法得知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\(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 \)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的实际概率分布，因此改用频率采样的方式来进行建模：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FC841-E2E1-4802-8701-94EA307E94B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35489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鉴于我们的取值是离散的，因此采用</a:t>
            </a:r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PGD</a:t>
            </a:r>
            <a:r>
              <a:rPr lang="zh-CN" alt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Projected Gradient Descent,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投影梯度下降）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先连续优化，后离散取值。先假定我们的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\(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CA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delta_i</a:t>
            </a:r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\)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在区间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\(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[-1,1] \)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上，优化得到结果之后四舍五入到原本的离散值上。</a:t>
            </a:r>
          </a:p>
          <a:p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其他项都可以直接计算，我们最关心的是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\(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\frac{d \theta(\delta)}{d \delta}\)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。分子与分母的关系为隐式关系，即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\(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\theta(\delta) \)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是在投毒后的数据中训练出来的结果，因此计算这一点是投毒攻击领域最常见的一个问题。</a:t>
            </a:r>
            <a:endParaRPr lang="en-US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当数据规模过大的时候，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Hessian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矩阵太大，计算其与似然函数乘积的逆很困难</a:t>
            </a:r>
          </a:p>
          <a:p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算法的思路很简单，将每个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x,y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对视作一条边，其中视作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在评分上优于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，然后我们对目标点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(promotion)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\(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c^T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\)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集合，我们寻找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条边，约束是这些边的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点在</a:t>
            </a:r>
            <a:r>
              <a:rPr lang="en-US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c^T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中，目标是使这些边“距离”最短。这其实变成一个简单的贪心问题，而关键在于对距离的建模。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FC841-E2E1-4802-8701-94EA307E94B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8019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这四大环境涵盖了语言模型安全、机器人物理控制、视觉策略游戏和推荐系统等多领域任务，代表强化学习、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NLP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和推荐算法常见实验场景。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FC841-E2E1-4802-8701-94EA307E94B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45708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FC841-E2E1-4802-8701-94EA307E94B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4486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关注三种方法：</a:t>
            </a: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识别并移除有毒数据：谱异常检测和元筛选</a:t>
            </a: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在迭代训练过程中移除有毒数据：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Loss-Outlier</a:t>
            </a:r>
          </a:p>
          <a:p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-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随机化数据：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alibi</a:t>
            </a:r>
          </a:p>
          <a:p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依旧在四个环境中，在</a:t>
            </a:r>
            <a:r>
              <a:rPr lang="en-CA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relu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网络中选取效果最好的</a:t>
            </a:r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RBD-Norm</a:t>
            </a:r>
            <a:r>
              <a:rPr lang="zh-CN" alt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</a:t>
            </a:r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linear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网络中选取效果最好的</a:t>
            </a:r>
            <a:r>
              <a:rPr lang="en-CA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Gradient+pre-trained</a:t>
            </a:r>
            <a:r>
              <a:rPr lang="zh-CN" alt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然后分别使用三种</a:t>
            </a:r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defense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去看效果，这里截取了在</a:t>
            </a:r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Amazon-recommendation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中的实验结果，可以看到</a:t>
            </a:r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alibi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的表现是最好的，当然攻击效果依旧是随着投毒率的增长而变得更加明显，这没办法，但</a:t>
            </a:r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alibi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的防御效果已经很好了，特别是在</a:t>
            </a:r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Demotion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FC841-E2E1-4802-8701-94EA307E94B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34658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实际投毒的可行性值得被关注。在我们关注的偏好投毒场景中，执行攻击同样需要考虑数据的采集方式。举例来说，我们使用的开放安全对齐数据集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[40]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包含约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33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万个问答对，这些数据仅由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70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位标注者收集。在这种情况下，即使只有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名恶意标注者，也能投毒接近整个数据集的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6%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实际生产过程中缓解此类投毒攻击影响的一个重要方法是：确保数据集由大量标注者采集，并且每个标注者只标注很小一部分数据。这样可以降低少数恶意标注者对奖励模型训练产生重大干扰的概率。与此同时，目前常见的数据集通常只有很少几个标注者同时标注同一个查询；而我们可以通过确保每条查询有许多响应，并采用多数投票机制（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majority vote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），来大幅提升对投毒攻击的鲁棒性。</a:t>
            </a:r>
            <a:endParaRPr lang="en-US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与传统的投毒攻击相比，偏好投毒问题在结构上却有根本性的不同，无论是在奖励模型学习所需解决的优化问题，还是在现实威胁模型里针对候选结果进行推广（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promotion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）和降级（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demotion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）的具体操作。</a:t>
            </a:r>
            <a:b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第一，进行全面脆弱性分析十分重要，必须涵盖多种攻击技术。我们发现，在多种攻击方式中，哪个攻击最有效会因领域和环境（即数据集）而有很大差异。</a:t>
            </a:r>
            <a:endParaRPr lang="en-US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第二，具体采用的数据集及其分布的特性至关重要。最近有研究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[81]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也指出，数据分布的性质（也就是数据集本身）对模型在面对数据投毒时的鲁棒性有决定性影响。我们通过实证分析强调了这一点，这一问题理应获得更多关注。</a:t>
            </a:r>
          </a:p>
          <a:p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FC841-E2E1-4802-8701-94EA307E94B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5904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FC841-E2E1-4802-8701-94EA307E94B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776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149566"/>
            <a:ext cx="10515600" cy="89951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838200" y="5114030"/>
            <a:ext cx="10515600" cy="604299"/>
          </a:xfrm>
        </p:spPr>
        <p:txBody>
          <a:bodyPr anchor="ctr">
            <a:noAutofit/>
          </a:bodyPr>
          <a:lstStyle>
            <a:lvl1pPr algn="ctr">
              <a:defRPr lang="zh-CN" altLang="en-US" sz="2400" b="0">
                <a:solidFill>
                  <a:schemeClr val="bg1"/>
                </a:solidFill>
                <a:latin typeface="+mn-ea"/>
                <a:cs typeface="+mj-cs"/>
              </a:defRPr>
            </a:lvl1pPr>
          </a:lstStyle>
          <a:p>
            <a:pPr lvl="0" algn="ctr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en-US"/>
              <a:t>单击此处编辑母版副标题样式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" t="172" r="40" b="-12"/>
          <a:stretch/>
        </p:blipFill>
        <p:spPr>
          <a:xfrm>
            <a:off x="0" y="1"/>
            <a:ext cx="12192000" cy="3899805"/>
          </a:xfrm>
          <a:prstGeom prst="rect">
            <a:avLst/>
          </a:prstGeom>
          <a:ln>
            <a:noFill/>
          </a:ln>
        </p:spPr>
      </p:pic>
      <p:cxnSp>
        <p:nvCxnSpPr>
          <p:cNvPr id="9" name="直接连接符 8"/>
          <p:cNvCxnSpPr/>
          <p:nvPr/>
        </p:nvCxnSpPr>
        <p:spPr>
          <a:xfrm>
            <a:off x="0" y="3899805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D2DB5976-5F79-41F1-9EF0-EF036EBBF02C}"/>
              </a:ext>
            </a:extLst>
          </p:cNvPr>
          <p:cNvPicPr>
            <a:picLocks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6006" y="6034568"/>
            <a:ext cx="2458800" cy="65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489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  <p15:guide id="4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658701" y="1685678"/>
            <a:ext cx="11162884" cy="492149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58699" y="974278"/>
            <a:ext cx="11162884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0501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页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658701" y="1685678"/>
            <a:ext cx="11162884" cy="492149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58701" y="975600"/>
            <a:ext cx="11162884" cy="576000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" name="灯片编号占位符 5"/>
          <p:cNvSpPr txBox="1">
            <a:spLocks/>
          </p:cNvSpPr>
          <p:nvPr/>
        </p:nvSpPr>
        <p:spPr>
          <a:xfrm>
            <a:off x="11596801" y="311755"/>
            <a:ext cx="365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200" spc="-6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fld id="{E1703B59-C883-4B8B-974E-AFB30A6C43A7}" type="slidenum">
              <a:rPr lang="zh-CN" altLang="en-US" sz="1200" smtClean="0"/>
              <a:pPr lvl="0"/>
              <a:t>‹#›</a:t>
            </a:fld>
            <a:endParaRPr lang="zh-CN" altLang="en-US" sz="1200" dirty="0"/>
          </a:p>
        </p:txBody>
      </p:sp>
      <p:sp>
        <p:nvSpPr>
          <p:cNvPr id="9" name="文本框 8"/>
          <p:cNvSpPr txBox="1"/>
          <p:nvPr/>
        </p:nvSpPr>
        <p:spPr>
          <a:xfrm>
            <a:off x="11000035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97453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内页-极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658701" y="1685678"/>
            <a:ext cx="11162884" cy="492149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58699" y="974278"/>
            <a:ext cx="11162884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0" y="2"/>
            <a:ext cx="12192000" cy="6688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0" name="矩形 9"/>
          <p:cNvSpPr/>
          <p:nvPr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1" name="矩形 10"/>
          <p:cNvSpPr/>
          <p:nvPr userDrawn="1"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AEE4564-8414-4FEE-ABEB-35584A5AB39F}"/>
              </a:ext>
            </a:extLst>
          </p:cNvPr>
          <p:cNvPicPr>
            <a:picLocks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039" y="134326"/>
            <a:ext cx="460800" cy="460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283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内页-极简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658701" y="1685678"/>
            <a:ext cx="11162884" cy="492149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58699" y="974278"/>
            <a:ext cx="11162884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0" y="2"/>
            <a:ext cx="12192000" cy="6688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0" name="矩形 9"/>
          <p:cNvSpPr/>
          <p:nvPr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7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11596801" y="313201"/>
            <a:ext cx="365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sz="1200" spc="-60" baseline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D4CE0C3C-47D3-4455-AB34-8268314DB49D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1000035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1000035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6CA16D4-0290-44EE-94F1-FC2C75A69881}"/>
              </a:ext>
            </a:extLst>
          </p:cNvPr>
          <p:cNvPicPr>
            <a:picLocks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039" y="134326"/>
            <a:ext cx="460800" cy="460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17489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3057" cy="66452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5821680"/>
            <a:ext cx="12192000" cy="1036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1801" y="235137"/>
            <a:ext cx="8632687" cy="337358"/>
          </a:xfrm>
          <a:prstGeom prst="rect">
            <a:avLst/>
          </a:prstGeom>
        </p:spPr>
        <p:txBody>
          <a:bodyPr anchor="ctr"/>
          <a:lstStyle>
            <a:lvl1pPr>
              <a:defRPr sz="200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0" y="1"/>
            <a:ext cx="12192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1240"/>
            <a:ext cx="12192000" cy="518506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0"/>
            <a:ext cx="12193057" cy="664522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1"/>
            <a:ext cx="12192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1240"/>
            <a:ext cx="12192000" cy="518506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868EC634-9AC0-47BC-9B63-CF588D91D64F}"/>
              </a:ext>
            </a:extLst>
          </p:cNvPr>
          <p:cNvPicPr>
            <a:picLocks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6006" y="6034568"/>
            <a:ext cx="2458800" cy="65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249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08" userDrawn="1">
          <p15:clr>
            <a:srgbClr val="FBAE40"/>
          </p15:clr>
        </p15:guide>
        <p15:guide id="2" pos="272" userDrawn="1">
          <p15:clr>
            <a:srgbClr val="FBAE40"/>
          </p15:clr>
        </p15:guide>
        <p15:guide id="5" pos="4167" userDrawn="1">
          <p15:clr>
            <a:srgbClr val="FBAE40"/>
          </p15:clr>
        </p15:guide>
        <p15:guide id="6" pos="153" userDrawn="1">
          <p15:clr>
            <a:srgbClr val="FBAE40"/>
          </p15:clr>
        </p15:guide>
        <p15:guide id="7" pos="5556" userDrawn="1">
          <p15:clr>
            <a:srgbClr val="FBAE40"/>
          </p15:clr>
        </p15:guide>
        <p15:guide id="8" pos="20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58701" y="975601"/>
            <a:ext cx="11162884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66588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纯标题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58701" y="975601"/>
            <a:ext cx="11162884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11000035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灯片编号占位符 5"/>
          <p:cNvSpPr txBox="1">
            <a:spLocks/>
          </p:cNvSpPr>
          <p:nvPr/>
        </p:nvSpPr>
        <p:spPr>
          <a:xfrm>
            <a:off x="11595421" y="311755"/>
            <a:ext cx="5965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spc="-6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fld id="{7E0B4DC1-AB35-4259-8072-EA8F5B8A0BBF}" type="slidenum">
              <a:rPr lang="zh-CN" altLang="en-US" sz="1200" smtClean="0"/>
              <a:pPr lvl="0"/>
              <a:t>‹#›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1326199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0"/>
            <a:ext cx="12193057" cy="664522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3" name="矩形 12"/>
          <p:cNvSpPr/>
          <p:nvPr/>
        </p:nvSpPr>
        <p:spPr>
          <a:xfrm>
            <a:off x="0" y="1"/>
            <a:ext cx="12192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7" name="矩形 6"/>
          <p:cNvSpPr/>
          <p:nvPr userDrawn="1"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0" name="矩形 9"/>
          <p:cNvSpPr/>
          <p:nvPr userDrawn="1"/>
        </p:nvSpPr>
        <p:spPr>
          <a:xfrm>
            <a:off x="0" y="1"/>
            <a:ext cx="12192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9330132-A4AE-4000-83EB-2350EE54A9A1}"/>
              </a:ext>
            </a:extLst>
          </p:cNvPr>
          <p:cNvPicPr>
            <a:picLocks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99" y="168583"/>
            <a:ext cx="1519200" cy="401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330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空白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3057" cy="664522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7" name="矩形 16"/>
          <p:cNvSpPr/>
          <p:nvPr/>
        </p:nvSpPr>
        <p:spPr>
          <a:xfrm>
            <a:off x="0" y="1"/>
            <a:ext cx="12192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文本框 4"/>
          <p:cNvSpPr txBox="1"/>
          <p:nvPr/>
        </p:nvSpPr>
        <p:spPr>
          <a:xfrm>
            <a:off x="11000035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596801" y="313201"/>
            <a:ext cx="365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sz="1200" spc="-60" baseline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1703B59-C883-4B8B-974E-AFB30A6C43A7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9" name="矩形 8"/>
          <p:cNvSpPr/>
          <p:nvPr userDrawn="1"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1" name="矩形 10"/>
          <p:cNvSpPr/>
          <p:nvPr userDrawn="1"/>
        </p:nvSpPr>
        <p:spPr>
          <a:xfrm>
            <a:off x="0" y="1"/>
            <a:ext cx="12192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9236C0F-7906-45C5-8289-C6152EBC9057}"/>
              </a:ext>
            </a:extLst>
          </p:cNvPr>
          <p:cNvPicPr>
            <a:picLocks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99" y="168583"/>
            <a:ext cx="1519200" cy="401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350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内容占位符 11"/>
          <p:cNvSpPr>
            <a:spLocks noGrp="1"/>
          </p:cNvSpPr>
          <p:nvPr>
            <p:ph sz="quarter" idx="10"/>
          </p:nvPr>
        </p:nvSpPr>
        <p:spPr>
          <a:xfrm>
            <a:off x="349859" y="1717675"/>
            <a:ext cx="537600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6381751" y="1717675"/>
            <a:ext cx="5376333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9858" y="975600"/>
            <a:ext cx="11408225" cy="576000"/>
          </a:xfrm>
          <a:prstGeom prst="rect">
            <a:avLst/>
          </a:prstGeom>
        </p:spPr>
        <p:txBody>
          <a:bodyPr/>
          <a:lstStyle>
            <a:lvl1pPr>
              <a:defRPr lang="zh-CN" altLang="en-US"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42321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3" pos="2160" userDrawn="1">
          <p15:clr>
            <a:srgbClr val="FBAE40"/>
          </p15:clr>
        </p15:guide>
        <p15:guide id="4" pos="28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1683"/>
            <a:ext cx="12192000" cy="332713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000035" y="313201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sz="quarter" idx="10"/>
          </p:nvPr>
        </p:nvSpPr>
        <p:spPr>
          <a:xfrm>
            <a:off x="349859" y="1717675"/>
            <a:ext cx="537600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6381751" y="1717675"/>
            <a:ext cx="5376333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21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11595420" y="313201"/>
            <a:ext cx="6495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1200" spc="-60" baseline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4BD5A17-3153-4A95-988E-B577C14000F1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9858" y="975600"/>
            <a:ext cx="11421927" cy="576000"/>
          </a:xfrm>
          <a:prstGeom prst="rect">
            <a:avLst/>
          </a:prstGeom>
        </p:spPr>
        <p:txBody>
          <a:bodyPr/>
          <a:lstStyle>
            <a:lvl1pPr>
              <a:defRPr lang="zh-CN" altLang="en-US"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31683"/>
            <a:ext cx="12192000" cy="33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102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6924" userDrawn="1">
          <p15:clr>
            <a:srgbClr val="FBAE40"/>
          </p15:clr>
        </p15:guide>
        <p15:guide id="5" pos="2160" userDrawn="1">
          <p15:clr>
            <a:srgbClr val="FBAE40"/>
          </p15:clr>
        </p15:guide>
        <p15:guide id="6" pos="3895" userDrawn="1">
          <p15:clr>
            <a:srgbClr val="FBAE40"/>
          </p15:clr>
        </p15:guide>
        <p15:guide id="7" pos="2880" userDrawn="1">
          <p15:clr>
            <a:srgbClr val="FBAE40"/>
          </p15:clr>
        </p15:guide>
        <p15:guide id="8" pos="5193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对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349859" y="960115"/>
            <a:ext cx="5376000" cy="57418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0" y="1550505"/>
            <a:ext cx="12192000" cy="7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11"/>
          <p:cNvSpPr>
            <a:spLocks noGrp="1"/>
          </p:cNvSpPr>
          <p:nvPr>
            <p:ph sz="quarter" idx="10"/>
          </p:nvPr>
        </p:nvSpPr>
        <p:spPr>
          <a:xfrm>
            <a:off x="349859" y="1717675"/>
            <a:ext cx="537600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6381751" y="1717675"/>
            <a:ext cx="5376333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8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381751" y="958297"/>
            <a:ext cx="5376000" cy="576000"/>
          </a:xfrm>
        </p:spPr>
        <p:txBody>
          <a:bodyPr anchor="b">
            <a:normAutofit/>
          </a:bodyPr>
          <a:lstStyle>
            <a:lvl1pPr marL="0" indent="0" algn="ctr">
              <a:buNone/>
              <a:defRPr lang="zh-CN" altLang="en-US" sz="2800" b="1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lvl="0" indent="-228600" algn="ctr">
              <a:lnSpc>
                <a:spcPct val="90000"/>
              </a:lnSpc>
              <a:spcBef>
                <a:spcPct val="0"/>
              </a:spcBef>
            </a:pPr>
            <a:r>
              <a:rPr lang="zh-CN" altLang="en-US" dirty="0"/>
              <a:t>单击此处编辑标题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3057" cy="664522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2" name="矩形 21"/>
          <p:cNvSpPr/>
          <p:nvPr/>
        </p:nvSpPr>
        <p:spPr>
          <a:xfrm>
            <a:off x="0" y="1"/>
            <a:ext cx="12192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3" name="矩形 12"/>
          <p:cNvSpPr/>
          <p:nvPr userDrawn="1"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5" name="矩形 14"/>
          <p:cNvSpPr/>
          <p:nvPr userDrawn="1"/>
        </p:nvSpPr>
        <p:spPr>
          <a:xfrm>
            <a:off x="0" y="1"/>
            <a:ext cx="12192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B2215100-2895-4EC8-90C4-59B1A5A74020}"/>
              </a:ext>
            </a:extLst>
          </p:cNvPr>
          <p:cNvPicPr>
            <a:picLocks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99" y="168583"/>
            <a:ext cx="1519200" cy="401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4756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3" pos="2160" userDrawn="1">
          <p15:clr>
            <a:srgbClr val="FBAE40"/>
          </p15:clr>
        </p15:guide>
        <p15:guide id="4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对比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3057" cy="664522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99" y="168583"/>
            <a:ext cx="2023540" cy="401413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0" y="1"/>
            <a:ext cx="12192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6" name="文本框 5"/>
          <p:cNvSpPr txBox="1"/>
          <p:nvPr/>
        </p:nvSpPr>
        <p:spPr>
          <a:xfrm>
            <a:off x="11000035" y="313201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349859" y="960115"/>
            <a:ext cx="5376000" cy="57418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0" y="1550505"/>
            <a:ext cx="12192000" cy="7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11"/>
          <p:cNvSpPr>
            <a:spLocks noGrp="1"/>
          </p:cNvSpPr>
          <p:nvPr>
            <p:ph sz="quarter" idx="10"/>
          </p:nvPr>
        </p:nvSpPr>
        <p:spPr>
          <a:xfrm>
            <a:off x="349859" y="1717675"/>
            <a:ext cx="537600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6381751" y="1717675"/>
            <a:ext cx="5376333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8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381751" y="958297"/>
            <a:ext cx="5376000" cy="576000"/>
          </a:xfrm>
        </p:spPr>
        <p:txBody>
          <a:bodyPr anchor="b">
            <a:normAutofit/>
          </a:bodyPr>
          <a:lstStyle>
            <a:lvl1pPr marL="0" indent="0" algn="ctr">
              <a:buNone/>
              <a:defRPr lang="zh-CN" altLang="en-US" sz="2800" b="1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lvl="0" indent="-228600" algn="ctr">
              <a:lnSpc>
                <a:spcPct val="90000"/>
              </a:lnSpc>
              <a:spcBef>
                <a:spcPct val="0"/>
              </a:spcBef>
            </a:pPr>
            <a:r>
              <a:rPr lang="zh-CN" altLang="en-US" dirty="0"/>
              <a:t>单击此处编辑标题</a:t>
            </a:r>
          </a:p>
        </p:txBody>
      </p:sp>
      <p:sp>
        <p:nvSpPr>
          <p:cNvPr id="21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11595420" y="313201"/>
            <a:ext cx="6495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1200" spc="-60" baseline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4BD5A17-3153-4A95-988E-B577C14000F1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0"/>
            <a:ext cx="12193057" cy="664522"/>
          </a:xfrm>
          <a:prstGeom prst="rect">
            <a:avLst/>
          </a:prstGeom>
        </p:spPr>
      </p:pic>
      <p:sp>
        <p:nvSpPr>
          <p:cNvPr id="14" name="矩形 13"/>
          <p:cNvSpPr/>
          <p:nvPr userDrawn="1"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9" name="矩形 18"/>
          <p:cNvSpPr/>
          <p:nvPr userDrawn="1"/>
        </p:nvSpPr>
        <p:spPr>
          <a:xfrm>
            <a:off x="0" y="1"/>
            <a:ext cx="12192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58D0DA17-9DEE-4C1A-A905-971DE981161A}"/>
              </a:ext>
            </a:extLst>
          </p:cNvPr>
          <p:cNvPicPr>
            <a:picLocks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99" y="168583"/>
            <a:ext cx="1519200" cy="401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306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6924" userDrawn="1">
          <p15:clr>
            <a:srgbClr val="FBAE40"/>
          </p15:clr>
        </p15:guide>
        <p15:guide id="5" pos="2160" userDrawn="1">
          <p15:clr>
            <a:srgbClr val="FBAE40"/>
          </p15:clr>
        </p15:guide>
        <p15:guide id="6" pos="3895" userDrawn="1">
          <p15:clr>
            <a:srgbClr val="FBAE40"/>
          </p15:clr>
        </p15:guide>
        <p15:guide id="7" pos="2880" userDrawn="1">
          <p15:clr>
            <a:srgbClr val="FBAE40"/>
          </p15:clr>
        </p15:guide>
        <p15:guide id="8" pos="5193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封面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5498" y="4006448"/>
            <a:ext cx="11100025" cy="111419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625499" y="5245247"/>
            <a:ext cx="7760477" cy="468179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lang="zh-CN" altLang="en-US" sz="2400" b="0">
                <a:solidFill>
                  <a:schemeClr val="bg1"/>
                </a:solidFill>
                <a:latin typeface="+mn-ea"/>
                <a:cs typeface="+mj-cs"/>
              </a:defRPr>
            </a:lvl1pPr>
          </a:lstStyle>
          <a:p>
            <a:pPr marL="228600" lvl="0" indent="-228600" algn="ctr">
              <a:lnSpc>
                <a:spcPct val="90000"/>
              </a:lnSpc>
              <a:spcBef>
                <a:spcPct val="0"/>
              </a:spcBef>
            </a:pPr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625499" y="5815087"/>
            <a:ext cx="5545667" cy="49900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单击此处添加日期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" t="172" r="40" b="-12"/>
          <a:stretch/>
        </p:blipFill>
        <p:spPr>
          <a:xfrm>
            <a:off x="0" y="1"/>
            <a:ext cx="12192000" cy="3899805"/>
          </a:xfrm>
          <a:prstGeom prst="rect">
            <a:avLst/>
          </a:prstGeom>
          <a:ln>
            <a:noFill/>
          </a:ln>
        </p:spPr>
      </p:pic>
      <p:cxnSp>
        <p:nvCxnSpPr>
          <p:cNvPr id="11" name="直接连接符 10"/>
          <p:cNvCxnSpPr/>
          <p:nvPr/>
        </p:nvCxnSpPr>
        <p:spPr>
          <a:xfrm>
            <a:off x="0" y="3899805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" t="172" r="40" b="-12"/>
          <a:stretch/>
        </p:blipFill>
        <p:spPr>
          <a:xfrm>
            <a:off x="0" y="1"/>
            <a:ext cx="12192000" cy="3899805"/>
          </a:xfrm>
          <a:prstGeom prst="rect">
            <a:avLst/>
          </a:prstGeom>
          <a:ln>
            <a:noFill/>
          </a:ln>
        </p:spPr>
      </p:pic>
      <p:cxnSp>
        <p:nvCxnSpPr>
          <p:cNvPr id="9" name="直接连接符 8"/>
          <p:cNvCxnSpPr/>
          <p:nvPr userDrawn="1"/>
        </p:nvCxnSpPr>
        <p:spPr>
          <a:xfrm>
            <a:off x="0" y="3899805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CB80D6CC-DE37-4710-B760-C4B00A25F13B}"/>
              </a:ext>
            </a:extLst>
          </p:cNvPr>
          <p:cNvPicPr>
            <a:picLocks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6006" y="6034568"/>
            <a:ext cx="2458800" cy="65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060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93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  <p15:guide id="4" pos="221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封底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3073"/>
            <a:ext cx="12192000" cy="28117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966" y="3608990"/>
            <a:ext cx="4029124" cy="799946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50528" y="1371600"/>
            <a:ext cx="11213989" cy="926932"/>
          </a:xfrm>
        </p:spPr>
        <p:txBody>
          <a:bodyPr>
            <a:noAutofit/>
          </a:bodyPr>
          <a:lstStyle>
            <a:lvl1pPr algn="ctr">
              <a:defRPr sz="66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3073"/>
            <a:ext cx="12192000" cy="281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372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microsoft.com/office/2007/relationships/hdphoto" Target="../media/hdphoto2.wdp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" y="0"/>
            <a:ext cx="12193057" cy="664522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551292" y="1673352"/>
            <a:ext cx="11120561" cy="4999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" name="矩形 9"/>
          <p:cNvSpPr/>
          <p:nvPr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9" cstate="print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99" y="168583"/>
            <a:ext cx="2023540" cy="401413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0" y="1"/>
            <a:ext cx="12192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0" y="1231683"/>
            <a:ext cx="12192000" cy="332713"/>
          </a:xfrm>
          <a:prstGeom prst="rect">
            <a:avLst/>
          </a:prstGeom>
        </p:spPr>
      </p:pic>
      <p:sp>
        <p:nvSpPr>
          <p:cNvPr id="4" name="标题占位符 3"/>
          <p:cNvSpPr>
            <a:spLocks noGrp="1"/>
          </p:cNvSpPr>
          <p:nvPr>
            <p:ph type="title"/>
          </p:nvPr>
        </p:nvSpPr>
        <p:spPr>
          <a:xfrm>
            <a:off x="551291" y="863021"/>
            <a:ext cx="11213989" cy="701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" y="0"/>
            <a:ext cx="12193057" cy="664522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5" name="图片 14"/>
          <p:cNvPicPr>
            <a:picLocks/>
          </p:cNvPicPr>
          <p:nvPr userDrawn="1"/>
        </p:nvPicPr>
        <p:blipFill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99" y="168583"/>
            <a:ext cx="1519200" cy="401413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"/>
            <a:ext cx="12192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0" y="1231683"/>
            <a:ext cx="12192000" cy="33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737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  <p:sldLayoutId id="2147483816" r:id="rId14"/>
    <p:sldLayoutId id="2147483817" r:id="rId15"/>
    <p:sldLayoutId id="2147483818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51415" y="4029394"/>
            <a:ext cx="11439502" cy="1114192"/>
          </a:xfrm>
        </p:spPr>
        <p:txBody>
          <a:bodyPr/>
          <a:lstStyle/>
          <a:p>
            <a:pPr fontAlgn="base"/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Preference Poisoning Attacks on Reward Model Learning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451415" y="5302397"/>
            <a:ext cx="7760477" cy="468179"/>
          </a:xfrm>
        </p:spPr>
        <p:txBody>
          <a:bodyPr/>
          <a:lstStyle/>
          <a:p>
            <a:r>
              <a:rPr lang="zh-CN" altLang="en-US" dirty="0"/>
              <a:t>主讲人：陈景韬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451415" y="5929387"/>
            <a:ext cx="5545667" cy="499004"/>
          </a:xfrm>
        </p:spPr>
        <p:txBody>
          <a:bodyPr/>
          <a:lstStyle/>
          <a:p>
            <a:r>
              <a:rPr lang="en-US" altLang="zh-CN" dirty="0"/>
              <a:t>2025</a:t>
            </a:r>
            <a:r>
              <a:rPr lang="zh-CN" altLang="en-US" dirty="0"/>
              <a:t>年</a:t>
            </a:r>
            <a:r>
              <a:rPr lang="en-US" altLang="zh-CN" dirty="0"/>
              <a:t>12</a:t>
            </a:r>
            <a:r>
              <a:rPr lang="zh-CN" altLang="en-US" dirty="0"/>
              <a:t>月</a:t>
            </a:r>
          </a:p>
        </p:txBody>
      </p:sp>
    </p:spTree>
    <p:extLst>
      <p:ext uri="{BB962C8B-B14F-4D97-AF65-F5344CB8AC3E}">
        <p14:creationId xmlns:p14="http://schemas.microsoft.com/office/powerpoint/2010/main" val="2049770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E9BAE-7B9D-FA8B-737B-CAF42ECE5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64011A3-FFD1-8D09-FD54-F28BF08D9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3600" dirty="0">
                <a:latin typeface="+mj-ea"/>
                <a:cs typeface="Times New Roman" panose="02020603050405020304" pitchFamily="18" charset="0"/>
              </a:rPr>
              <a:t>文章概览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0620993-9142-1E34-63E8-F4E11EB49B38}"/>
              </a:ext>
            </a:extLst>
          </p:cNvPr>
          <p:cNvSpPr/>
          <p:nvPr/>
        </p:nvSpPr>
        <p:spPr>
          <a:xfrm>
            <a:off x="786672" y="2289905"/>
            <a:ext cx="3940090" cy="12319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成对偏好比较模型</a:t>
            </a:r>
            <a:endParaRPr lang="en-US" altLang="zh-CN" sz="2400" b="1" dirty="0">
              <a:latin typeface="+mn-ea"/>
              <a:cs typeface="Times New Roman" panose="02020603050405020304" pitchFamily="18" charset="0"/>
            </a:endParaRPr>
          </a:p>
          <a:p>
            <a:pPr algn="ctr"/>
            <a:r>
              <a:rPr lang="en-US" altLang="zh-CN" sz="2400" b="1" dirty="0">
                <a:latin typeface="+mn-ea"/>
                <a:cs typeface="Times New Roman" panose="02020603050405020304" pitchFamily="18" charset="0"/>
              </a:rPr>
              <a:t>Reward Models from</a:t>
            </a:r>
          </a:p>
          <a:p>
            <a:pPr algn="ctr"/>
            <a:r>
              <a:rPr lang="en-US" altLang="zh-CN" sz="2400" b="1" dirty="0">
                <a:latin typeface="+mn-ea"/>
                <a:cs typeface="Times New Roman" panose="02020603050405020304" pitchFamily="18" charset="0"/>
              </a:rPr>
              <a:t>Pairwise Comparisons</a:t>
            </a:r>
            <a:endParaRPr lang="zh-CN" altLang="en-US" sz="2400" b="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9" name="左大括号 8">
            <a:extLst>
              <a:ext uri="{FF2B5EF4-FFF2-40B4-BE49-F238E27FC236}">
                <a16:creationId xmlns:a16="http://schemas.microsoft.com/office/drawing/2014/main" id="{0E8B57C8-C86A-33AC-59D3-AECC9EEE0AA9}"/>
              </a:ext>
            </a:extLst>
          </p:cNvPr>
          <p:cNvSpPr/>
          <p:nvPr/>
        </p:nvSpPr>
        <p:spPr>
          <a:xfrm>
            <a:off x="4858094" y="2248041"/>
            <a:ext cx="549418" cy="123190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1F7E89E-0B80-5BC9-1528-3187697D44C7}"/>
              </a:ext>
            </a:extLst>
          </p:cNvPr>
          <p:cNvSpPr/>
          <p:nvPr/>
        </p:nvSpPr>
        <p:spPr>
          <a:xfrm>
            <a:off x="5617019" y="1960949"/>
            <a:ext cx="2853550" cy="57418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价值对齐（</a:t>
            </a:r>
            <a:r>
              <a:rPr lang="en-US" altLang="zh-CN" sz="2400" b="1" dirty="0">
                <a:latin typeface="+mn-ea"/>
                <a:cs typeface="Times New Roman" panose="02020603050405020304" pitchFamily="18" charset="0"/>
              </a:rPr>
              <a:t>RLHF</a:t>
            </a:r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EE02DAA-6339-BB54-BFA8-B09783FEE6A1}"/>
              </a:ext>
            </a:extLst>
          </p:cNvPr>
          <p:cNvSpPr/>
          <p:nvPr/>
        </p:nvSpPr>
        <p:spPr>
          <a:xfrm>
            <a:off x="5617019" y="3141908"/>
            <a:ext cx="1520050" cy="57418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偏好训练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CAC2B62-A0F4-420C-7C9C-1FD5F48650B4}"/>
              </a:ext>
            </a:extLst>
          </p:cNvPr>
          <p:cNvSpPr/>
          <p:nvPr/>
        </p:nvSpPr>
        <p:spPr>
          <a:xfrm>
            <a:off x="1160246" y="4778987"/>
            <a:ext cx="2962707" cy="140469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翻转投毒攻击</a:t>
            </a:r>
            <a:endParaRPr lang="en-US" altLang="zh-CN" sz="2400" b="1" dirty="0">
              <a:latin typeface="+mn-ea"/>
              <a:cs typeface="Times New Roman" panose="02020603050405020304" pitchFamily="18" charset="0"/>
            </a:endParaRPr>
          </a:p>
          <a:p>
            <a:pPr algn="ctr"/>
            <a:r>
              <a:rPr lang="en-US" altLang="zh-CN" sz="2400" b="1" dirty="0">
                <a:latin typeface="+mn-ea"/>
                <a:cs typeface="Times New Roman" panose="02020603050405020304" pitchFamily="18" charset="0"/>
              </a:rPr>
              <a:t>Flipping </a:t>
            </a:r>
          </a:p>
          <a:p>
            <a:pPr algn="ctr"/>
            <a:r>
              <a:rPr lang="en-US" altLang="zh-CN" sz="2400" b="1" dirty="0">
                <a:latin typeface="+mn-ea"/>
                <a:cs typeface="Times New Roman" panose="02020603050405020304" pitchFamily="18" charset="0"/>
              </a:rPr>
              <a:t>Poisoning Attack</a:t>
            </a:r>
            <a:endParaRPr lang="zh-CN" altLang="en-US" sz="2400" b="1" dirty="0">
              <a:latin typeface="+mn-ea"/>
              <a:cs typeface="Times New Roman" panose="02020603050405020304" pitchFamily="18" charset="0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3C0B4953-B464-AB10-8DB1-A9147D96218B}"/>
              </a:ext>
            </a:extLst>
          </p:cNvPr>
          <p:cNvCxnSpPr>
            <a:cxnSpLocks/>
          </p:cNvCxnSpPr>
          <p:nvPr/>
        </p:nvCxnSpPr>
        <p:spPr>
          <a:xfrm flipV="1">
            <a:off x="2641600" y="3716092"/>
            <a:ext cx="0" cy="868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8E8C70F3-F8B4-5360-13EB-8DE633395D44}"/>
              </a:ext>
            </a:extLst>
          </p:cNvPr>
          <p:cNvSpPr txBox="1"/>
          <p:nvPr/>
        </p:nvSpPr>
        <p:spPr>
          <a:xfrm>
            <a:off x="4282783" y="5065834"/>
            <a:ext cx="41885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通过翻转少量标签来实现投毒</a:t>
            </a:r>
            <a:endParaRPr lang="en-US" altLang="zh-CN" sz="2400" b="1" dirty="0">
              <a:solidFill>
                <a:schemeClr val="accent1"/>
              </a:solidFill>
              <a:latin typeface="+mn-ea"/>
              <a:cs typeface="Times New Roman" panose="02020603050405020304" pitchFamily="18" charset="0"/>
            </a:endParaRPr>
          </a:p>
          <a:p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（不改变特征向量）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6CC359B0-C546-6E84-9492-7681D8477162}"/>
              </a:ext>
            </a:extLst>
          </p:cNvPr>
          <p:cNvCxnSpPr>
            <a:cxnSpLocks/>
          </p:cNvCxnSpPr>
          <p:nvPr/>
        </p:nvCxnSpPr>
        <p:spPr>
          <a:xfrm flipV="1">
            <a:off x="8631134" y="4838947"/>
            <a:ext cx="474766" cy="482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B6B411A5-506E-D657-FDAE-83926FB70AFF}"/>
              </a:ext>
            </a:extLst>
          </p:cNvPr>
          <p:cNvSpPr txBox="1"/>
          <p:nvPr/>
        </p:nvSpPr>
        <p:spPr>
          <a:xfrm>
            <a:off x="9105900" y="4377282"/>
            <a:ext cx="27487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对比课程实验中的</a:t>
            </a:r>
            <a:endParaRPr lang="en-US" altLang="zh-CN" sz="2400" b="1" dirty="0">
              <a:solidFill>
                <a:schemeClr val="accent1"/>
              </a:solidFill>
              <a:latin typeface="+mn-ea"/>
              <a:cs typeface="Times New Roman" panose="02020603050405020304" pitchFamily="18" charset="0"/>
            </a:endParaRPr>
          </a:p>
          <a:p>
            <a:r>
              <a:rPr lang="en-US" altLang="zh-CN" sz="2400" b="1" dirty="0" err="1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BadNets</a:t>
            </a:r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投毒</a:t>
            </a:r>
          </a:p>
        </p:txBody>
      </p:sp>
      <p:sp>
        <p:nvSpPr>
          <p:cNvPr id="31" name="左大括号 30">
            <a:extLst>
              <a:ext uri="{FF2B5EF4-FFF2-40B4-BE49-F238E27FC236}">
                <a16:creationId xmlns:a16="http://schemas.microsoft.com/office/drawing/2014/main" id="{8927385D-9462-390F-9460-569760A60396}"/>
              </a:ext>
            </a:extLst>
          </p:cNvPr>
          <p:cNvSpPr/>
          <p:nvPr/>
        </p:nvSpPr>
        <p:spPr>
          <a:xfrm flipH="1">
            <a:off x="8593808" y="2248042"/>
            <a:ext cx="549418" cy="1273764"/>
          </a:xfrm>
          <a:prstGeom prst="leftBrace">
            <a:avLst>
              <a:gd name="adj1" fmla="val 8333"/>
              <a:gd name="adj2" fmla="val 2976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716800E-2DB8-B592-F954-23063EF9761C}"/>
              </a:ext>
            </a:extLst>
          </p:cNvPr>
          <p:cNvSpPr txBox="1"/>
          <p:nvPr/>
        </p:nvSpPr>
        <p:spPr>
          <a:xfrm>
            <a:off x="9398000" y="2248041"/>
            <a:ext cx="32540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在成对偏好数据</a:t>
            </a:r>
            <a:endParaRPr lang="en-US" altLang="zh-CN" sz="2400" b="1" dirty="0">
              <a:solidFill>
                <a:schemeClr val="accent1"/>
              </a:solidFill>
              <a:latin typeface="+mn-ea"/>
              <a:cs typeface="Times New Roman" panose="02020603050405020304" pitchFamily="18" charset="0"/>
            </a:endParaRPr>
          </a:p>
          <a:p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中训练</a:t>
            </a:r>
          </a:p>
        </p:txBody>
      </p:sp>
    </p:spTree>
    <p:extLst>
      <p:ext uri="{BB962C8B-B14F-4D97-AF65-F5344CB8AC3E}">
        <p14:creationId xmlns:p14="http://schemas.microsoft.com/office/powerpoint/2010/main" val="1881954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5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F6A7D2C7-67A1-3528-6BC9-19CAADAB3B6F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417513" y="1971611"/>
            <a:ext cx="11163300" cy="2914778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186654AC-D3A3-C397-3BC2-B2CA53DFB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成对偏好数据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854AB79-22D9-3AA1-E8D1-1C55B6651A5A}"/>
              </a:ext>
            </a:extLst>
          </p:cNvPr>
          <p:cNvSpPr txBox="1"/>
          <p:nvPr/>
        </p:nvSpPr>
        <p:spPr>
          <a:xfrm>
            <a:off x="2911636" y="5422057"/>
            <a:ext cx="6175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zh-CN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PKU-Alignment/PKU-SafeRLHF-30K</a:t>
            </a:r>
            <a:endParaRPr lang="zh-CN" altLang="en-US" sz="2400" b="1" dirty="0">
              <a:solidFill>
                <a:schemeClr val="accent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E85390D-1AFE-401B-211E-BA503C340BD2}"/>
              </a:ext>
            </a:extLst>
          </p:cNvPr>
          <p:cNvSpPr/>
          <p:nvPr/>
        </p:nvSpPr>
        <p:spPr>
          <a:xfrm>
            <a:off x="5486400" y="3797300"/>
            <a:ext cx="3600289" cy="57150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641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DCDD6ADD-9B5E-4967-C500-853AE6B85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776" y="2955129"/>
            <a:ext cx="4201111" cy="847843"/>
          </a:xfrm>
          <a:prstGeom prst="rect">
            <a:avLst/>
          </a:prstGeom>
        </p:spPr>
      </p:pic>
      <p:sp>
        <p:nvSpPr>
          <p:cNvPr id="6" name="标题 2">
            <a:extLst>
              <a:ext uri="{FF2B5EF4-FFF2-40B4-BE49-F238E27FC236}">
                <a16:creationId xmlns:a16="http://schemas.microsoft.com/office/drawing/2014/main" id="{66C643B8-0F6A-CDB1-C768-AD45BBB0C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699" y="974278"/>
            <a:ext cx="11162884" cy="574183"/>
          </a:xfrm>
        </p:spPr>
        <p:txBody>
          <a:bodyPr/>
          <a:lstStyle/>
          <a:p>
            <a:r>
              <a:rPr lang="zh-CN" altLang="en-US" dirty="0"/>
              <a:t>奖励模型和威胁建模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2E9DB9A-5A7E-F5D9-F290-B882A466B971}"/>
              </a:ext>
            </a:extLst>
          </p:cNvPr>
          <p:cNvSpPr txBox="1"/>
          <p:nvPr/>
        </p:nvSpPr>
        <p:spPr>
          <a:xfrm>
            <a:off x="2995577" y="3984270"/>
            <a:ext cx="3310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Bradley-Terry</a:t>
            </a:r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模型</a:t>
            </a:r>
          </a:p>
        </p:txBody>
      </p:sp>
      <p:pic>
        <p:nvPicPr>
          <p:cNvPr id="9" name="图片 8" descr="图示&#10;&#10;AI 生成的内容可能不正确。">
            <a:extLst>
              <a:ext uri="{FF2B5EF4-FFF2-40B4-BE49-F238E27FC236}">
                <a16:creationId xmlns:a16="http://schemas.microsoft.com/office/drawing/2014/main" id="{A7AA2491-992A-C0EC-B3E6-212F9AA74B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701" y="4688788"/>
            <a:ext cx="4446701" cy="91919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15B74A9-82A2-9184-EED5-79A7E86EBF99}"/>
              </a:ext>
            </a:extLst>
          </p:cNvPr>
          <p:cNvSpPr txBox="1"/>
          <p:nvPr/>
        </p:nvSpPr>
        <p:spPr>
          <a:xfrm>
            <a:off x="2995577" y="5883722"/>
            <a:ext cx="2358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MLE</a:t>
            </a:r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损失函数</a:t>
            </a:r>
          </a:p>
        </p:txBody>
      </p:sp>
      <p:pic>
        <p:nvPicPr>
          <p:cNvPr id="12" name="图片 11" descr="图片包含 文本&#10;&#10;AI 生成的内容可能不正确。">
            <a:extLst>
              <a:ext uri="{FF2B5EF4-FFF2-40B4-BE49-F238E27FC236}">
                <a16:creationId xmlns:a16="http://schemas.microsoft.com/office/drawing/2014/main" id="{CBEEB676-FB09-5AB4-7913-AB0F6BEFF47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763"/>
          <a:stretch>
            <a:fillRect/>
          </a:stretch>
        </p:blipFill>
        <p:spPr>
          <a:xfrm>
            <a:off x="492701" y="2037898"/>
            <a:ext cx="1959631" cy="276097"/>
          </a:xfrm>
          <a:prstGeom prst="rect">
            <a:avLst/>
          </a:prstGeom>
        </p:spPr>
      </p:pic>
      <p:pic>
        <p:nvPicPr>
          <p:cNvPr id="14" name="图片 13" descr="图片包含 图标&#10;&#10;AI 生成的内容可能不正确。">
            <a:extLst>
              <a:ext uri="{FF2B5EF4-FFF2-40B4-BE49-F238E27FC236}">
                <a16:creationId xmlns:a16="http://schemas.microsoft.com/office/drawing/2014/main" id="{1A728DBD-4309-99D4-9C89-ECD8211695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3443" y="2037898"/>
            <a:ext cx="1668759" cy="29799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DAA80586-6F54-0C20-C897-941C4FD48699}"/>
              </a:ext>
            </a:extLst>
          </p:cNvPr>
          <p:cNvSpPr txBox="1"/>
          <p:nvPr/>
        </p:nvSpPr>
        <p:spPr>
          <a:xfrm>
            <a:off x="2995577" y="2476309"/>
            <a:ext cx="3310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成对偏好数据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2BFF830-7B6B-FF60-729D-24C7345D3DC8}"/>
              </a:ext>
            </a:extLst>
          </p:cNvPr>
          <p:cNvCxnSpPr/>
          <p:nvPr/>
        </p:nvCxnSpPr>
        <p:spPr>
          <a:xfrm>
            <a:off x="5918200" y="1764002"/>
            <a:ext cx="0" cy="4902200"/>
          </a:xfrm>
          <a:prstGeom prst="line">
            <a:avLst/>
          </a:prstGeom>
          <a:ln w="19050">
            <a:solidFill>
              <a:srgbClr val="3F6EA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 descr="图标&#10;&#10;AI 生成的内容可能不正确。">
            <a:extLst>
              <a:ext uri="{FF2B5EF4-FFF2-40B4-BE49-F238E27FC236}">
                <a16:creationId xmlns:a16="http://schemas.microsoft.com/office/drawing/2014/main" id="{711B5536-C482-59DB-FCF1-A507D4B441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0702" y="1969465"/>
            <a:ext cx="2094967" cy="344530"/>
          </a:xfrm>
          <a:prstGeom prst="rect">
            <a:avLst/>
          </a:prstGeom>
        </p:spPr>
      </p:pic>
      <p:pic>
        <p:nvPicPr>
          <p:cNvPr id="21" name="图片 20" descr="图片包含 徽标&#10;&#10;AI 生成的内容可能不正确。">
            <a:extLst>
              <a:ext uri="{FF2B5EF4-FFF2-40B4-BE49-F238E27FC236}">
                <a16:creationId xmlns:a16="http://schemas.microsoft.com/office/drawing/2014/main" id="{4D790B32-B498-FF45-AFE9-E71D9D1640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4019" y="1904881"/>
            <a:ext cx="1625760" cy="379344"/>
          </a:xfrm>
          <a:prstGeom prst="rect">
            <a:avLst/>
          </a:prstGeom>
        </p:spPr>
      </p:pic>
      <p:pic>
        <p:nvPicPr>
          <p:cNvPr id="23" name="图片 22" descr="图片包含 文本&#10;&#10;AI 生成的内容可能不正确。">
            <a:extLst>
              <a:ext uri="{FF2B5EF4-FFF2-40B4-BE49-F238E27FC236}">
                <a16:creationId xmlns:a16="http://schemas.microsoft.com/office/drawing/2014/main" id="{2FFD6231-EBAD-8B61-99BB-958D53F206F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9855" y="2476309"/>
            <a:ext cx="1625760" cy="309668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9F58C3AC-B1D8-EEFD-8821-325DDA674223}"/>
              </a:ext>
            </a:extLst>
          </p:cNvPr>
          <p:cNvSpPr txBox="1"/>
          <p:nvPr/>
        </p:nvSpPr>
        <p:spPr>
          <a:xfrm>
            <a:off x="9555615" y="2790251"/>
            <a:ext cx="14913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威胁量化</a:t>
            </a:r>
          </a:p>
        </p:txBody>
      </p:sp>
      <p:pic>
        <p:nvPicPr>
          <p:cNvPr id="26" name="图片 25" descr="文本, 信件&#10;&#10;AI 生成的内容可能不正确。">
            <a:extLst>
              <a:ext uri="{FF2B5EF4-FFF2-40B4-BE49-F238E27FC236}">
                <a16:creationId xmlns:a16="http://schemas.microsoft.com/office/drawing/2014/main" id="{AC4EC905-EFA0-193C-9323-AFF0AF35651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6915" y="3457291"/>
            <a:ext cx="4140398" cy="1036415"/>
          </a:xfrm>
          <a:prstGeom prst="rect">
            <a:avLst/>
          </a:prstGeom>
        </p:spPr>
      </p:pic>
      <p:pic>
        <p:nvPicPr>
          <p:cNvPr id="28" name="图片 27" descr="文本&#10;&#10;AI 生成的内容可能不正确。">
            <a:extLst>
              <a:ext uri="{FF2B5EF4-FFF2-40B4-BE49-F238E27FC236}">
                <a16:creationId xmlns:a16="http://schemas.microsoft.com/office/drawing/2014/main" id="{9014E893-0F3B-7F54-F974-09E7A5DF161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50702" y="4896461"/>
            <a:ext cx="3421658" cy="1036415"/>
          </a:xfrm>
          <a:prstGeom prst="rect">
            <a:avLst/>
          </a:prstGeom>
        </p:spPr>
      </p:pic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D9CACD70-654B-2FB4-428C-FC9612931261}"/>
              </a:ext>
            </a:extLst>
          </p:cNvPr>
          <p:cNvCxnSpPr>
            <a:cxnSpLocks/>
          </p:cNvCxnSpPr>
          <p:nvPr/>
        </p:nvCxnSpPr>
        <p:spPr>
          <a:xfrm>
            <a:off x="8394700" y="4493706"/>
            <a:ext cx="0" cy="294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16B448C2-CA83-BF87-1A7D-9CB901E81FA4}"/>
              </a:ext>
            </a:extLst>
          </p:cNvPr>
          <p:cNvSpPr txBox="1"/>
          <p:nvPr/>
        </p:nvSpPr>
        <p:spPr>
          <a:xfrm>
            <a:off x="9555615" y="6104798"/>
            <a:ext cx="14913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攻击建模</a:t>
            </a:r>
          </a:p>
        </p:txBody>
      </p:sp>
    </p:spTree>
    <p:extLst>
      <p:ext uri="{BB962C8B-B14F-4D97-AF65-F5344CB8AC3E}">
        <p14:creationId xmlns:p14="http://schemas.microsoft.com/office/powerpoint/2010/main" val="3746001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1226503-2418-9ED8-067B-C605765D9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攻击算法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403D96-E733-5EC4-C967-C1356D8B61D3}"/>
              </a:ext>
            </a:extLst>
          </p:cNvPr>
          <p:cNvSpPr txBox="1"/>
          <p:nvPr/>
        </p:nvSpPr>
        <p:spPr>
          <a:xfrm>
            <a:off x="315877" y="1790509"/>
            <a:ext cx="3310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Gradient-Based:</a:t>
            </a:r>
            <a:endParaRPr lang="zh-CN" altLang="en-US" sz="2400" b="1" dirty="0">
              <a:solidFill>
                <a:schemeClr val="accent1"/>
              </a:solidFill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6" name="图片 5" descr="图片包含 文本&#10;&#10;AI 生成的内容可能不正确。">
            <a:extLst>
              <a:ext uri="{FF2B5EF4-FFF2-40B4-BE49-F238E27FC236}">
                <a16:creationId xmlns:a16="http://schemas.microsoft.com/office/drawing/2014/main" id="{90052A71-ABBB-E42C-70E9-43AB381F2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699" y="2252174"/>
            <a:ext cx="4197021" cy="838301"/>
          </a:xfrm>
          <a:prstGeom prst="rect">
            <a:avLst/>
          </a:prstGeom>
        </p:spPr>
      </p:pic>
      <p:pic>
        <p:nvPicPr>
          <p:cNvPr id="8" name="图片 7" descr="手机屏幕截图&#10;&#10;AI 生成的内容可能不正确。">
            <a:extLst>
              <a:ext uri="{FF2B5EF4-FFF2-40B4-BE49-F238E27FC236}">
                <a16:creationId xmlns:a16="http://schemas.microsoft.com/office/drawing/2014/main" id="{727248EB-A39B-2F31-827A-816705E4B0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699" y="3672384"/>
            <a:ext cx="4827701" cy="718058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77DDEC2A-A076-1143-B152-11E24C91D258}"/>
              </a:ext>
            </a:extLst>
          </p:cNvPr>
          <p:cNvCxnSpPr>
            <a:cxnSpLocks/>
          </p:cNvCxnSpPr>
          <p:nvPr/>
        </p:nvCxnSpPr>
        <p:spPr>
          <a:xfrm>
            <a:off x="2857500" y="2984500"/>
            <a:ext cx="0" cy="687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FE5D5B48-B519-E402-EC95-A106154554E2}"/>
              </a:ext>
            </a:extLst>
          </p:cNvPr>
          <p:cNvSpPr txBox="1"/>
          <p:nvPr/>
        </p:nvSpPr>
        <p:spPr>
          <a:xfrm>
            <a:off x="2929902" y="3097609"/>
            <a:ext cx="3310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Projection</a:t>
            </a:r>
            <a:endParaRPr lang="zh-CN" altLang="en-US" sz="2400" b="1" dirty="0">
              <a:solidFill>
                <a:schemeClr val="accent1"/>
              </a:solidFill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14" name="图片 13" descr="黑色的钟表&#10;&#10;AI 生成的内容可能不正确。">
            <a:extLst>
              <a:ext uri="{FF2B5EF4-FFF2-40B4-BE49-F238E27FC236}">
                <a16:creationId xmlns:a16="http://schemas.microsoft.com/office/drawing/2014/main" id="{78A95AE8-5EB7-4905-09EC-646423327B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4910" y="5108422"/>
            <a:ext cx="2686590" cy="701425"/>
          </a:xfrm>
          <a:prstGeom prst="rect">
            <a:avLst/>
          </a:prstGeom>
        </p:spPr>
      </p:pic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07BE41C4-F552-1538-DCC9-244399645E9C}"/>
              </a:ext>
            </a:extLst>
          </p:cNvPr>
          <p:cNvCxnSpPr>
            <a:cxnSpLocks/>
          </p:cNvCxnSpPr>
          <p:nvPr/>
        </p:nvCxnSpPr>
        <p:spPr>
          <a:xfrm flipH="1">
            <a:off x="3072549" y="4390442"/>
            <a:ext cx="2070951" cy="5819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EB5DE5A-45EC-DD76-C812-0A7E9E4C7420}"/>
              </a:ext>
            </a:extLst>
          </p:cNvPr>
          <p:cNvCxnSpPr/>
          <p:nvPr/>
        </p:nvCxnSpPr>
        <p:spPr>
          <a:xfrm>
            <a:off x="5918200" y="1764002"/>
            <a:ext cx="0" cy="4902200"/>
          </a:xfrm>
          <a:prstGeom prst="line">
            <a:avLst/>
          </a:prstGeom>
          <a:ln w="19050">
            <a:solidFill>
              <a:srgbClr val="3F6EA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26AC9281-FFB4-32CD-E72F-47609C0728B4}"/>
              </a:ext>
            </a:extLst>
          </p:cNvPr>
          <p:cNvSpPr txBox="1"/>
          <p:nvPr/>
        </p:nvSpPr>
        <p:spPr>
          <a:xfrm>
            <a:off x="6096000" y="1790318"/>
            <a:ext cx="419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RBD(Ranked-by-Distance):</a:t>
            </a:r>
            <a:endParaRPr lang="zh-CN" altLang="en-US" sz="2400" b="1" dirty="0">
              <a:solidFill>
                <a:schemeClr val="accent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1" name="左大括号 20">
            <a:extLst>
              <a:ext uri="{FF2B5EF4-FFF2-40B4-BE49-F238E27FC236}">
                <a16:creationId xmlns:a16="http://schemas.microsoft.com/office/drawing/2014/main" id="{C87CDF2B-320C-04F1-1CD4-20CB3A568B50}"/>
              </a:ext>
            </a:extLst>
          </p:cNvPr>
          <p:cNvSpPr/>
          <p:nvPr/>
        </p:nvSpPr>
        <p:spPr>
          <a:xfrm>
            <a:off x="6473682" y="2746119"/>
            <a:ext cx="549418" cy="18599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 descr="图标&#10;&#10;AI 生成的内容可能不正确。">
            <a:extLst>
              <a:ext uri="{FF2B5EF4-FFF2-40B4-BE49-F238E27FC236}">
                <a16:creationId xmlns:a16="http://schemas.microsoft.com/office/drawing/2014/main" id="{217AF31F-4E40-DA4E-7B8B-26595DA82E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1195" y="2613658"/>
            <a:ext cx="1801178" cy="242094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CEF25713-7EF5-9391-559E-CA628A9BF6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1195" y="3559274"/>
            <a:ext cx="2577805" cy="260523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368F9A13-B4FB-C207-BC42-2147623419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01194" y="4523319"/>
            <a:ext cx="2577806" cy="292221"/>
          </a:xfrm>
          <a:prstGeom prst="rect">
            <a:avLst/>
          </a:prstGeom>
        </p:spPr>
      </p:pic>
      <p:pic>
        <p:nvPicPr>
          <p:cNvPr id="29" name="图片 28" descr="图片包含 文本&#10;&#10;AI 生成的内容可能不正确。">
            <a:extLst>
              <a:ext uri="{FF2B5EF4-FFF2-40B4-BE49-F238E27FC236}">
                <a16:creationId xmlns:a16="http://schemas.microsoft.com/office/drawing/2014/main" id="{34DE6A65-2D07-9095-00DE-2BC46AF19F1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14754" y="5556816"/>
            <a:ext cx="1064146" cy="345553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CC0DB7AB-35EF-2086-1D71-9F022EC11CA4}"/>
              </a:ext>
            </a:extLst>
          </p:cNvPr>
          <p:cNvSpPr txBox="1"/>
          <p:nvPr/>
        </p:nvSpPr>
        <p:spPr>
          <a:xfrm>
            <a:off x="9779000" y="2546064"/>
            <a:ext cx="3310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RBD-Norm</a:t>
            </a:r>
            <a:endParaRPr lang="zh-CN" altLang="en-US" sz="2000" b="1" dirty="0">
              <a:solidFill>
                <a:schemeClr val="accent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55A9548-5622-CA45-C335-40FFFDEE7D17}"/>
              </a:ext>
            </a:extLst>
          </p:cNvPr>
          <p:cNvSpPr txBox="1"/>
          <p:nvPr/>
        </p:nvSpPr>
        <p:spPr>
          <a:xfrm>
            <a:off x="9779000" y="3455540"/>
            <a:ext cx="3310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RBD-Reward</a:t>
            </a:r>
            <a:endParaRPr lang="zh-CN" altLang="en-US" sz="2000" b="1" dirty="0">
              <a:solidFill>
                <a:schemeClr val="accent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598C5F6-4514-04E0-481A-1E72AB5AF13F}"/>
              </a:ext>
            </a:extLst>
          </p:cNvPr>
          <p:cNvSpPr txBox="1"/>
          <p:nvPr/>
        </p:nvSpPr>
        <p:spPr>
          <a:xfrm>
            <a:off x="9779000" y="4469374"/>
            <a:ext cx="3310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RBD-Embedding</a:t>
            </a:r>
            <a:endParaRPr lang="zh-CN" altLang="en-US" sz="2400" b="1" dirty="0">
              <a:solidFill>
                <a:schemeClr val="accent1"/>
              </a:solidFill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1678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4D5203D-DDB4-58D6-D17B-0DE901EF7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实验环境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CE1BDA2-DF30-81CC-244B-6AD75026B6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487"/>
          <a:stretch>
            <a:fillRect/>
          </a:stretch>
        </p:blipFill>
        <p:spPr>
          <a:xfrm>
            <a:off x="413568" y="2047676"/>
            <a:ext cx="4891201" cy="83507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756207B-CA97-B127-8CFD-1676FBA92F42}"/>
              </a:ext>
            </a:extLst>
          </p:cNvPr>
          <p:cNvSpPr txBox="1"/>
          <p:nvPr/>
        </p:nvSpPr>
        <p:spPr>
          <a:xfrm>
            <a:off x="2106071" y="3275726"/>
            <a:ext cx="1444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安全对齐</a:t>
            </a:r>
          </a:p>
        </p:txBody>
      </p:sp>
      <p:pic>
        <p:nvPicPr>
          <p:cNvPr id="1026" name="Picture 2" descr="MuJoCo">
            <a:extLst>
              <a:ext uri="{FF2B5EF4-FFF2-40B4-BE49-F238E27FC236}">
                <a16:creationId xmlns:a16="http://schemas.microsoft.com/office/drawing/2014/main" id="{B93E81F5-C9F7-4982-5857-BDDAD03D8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3964" y="2001877"/>
            <a:ext cx="3706699" cy="92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2A33863-90F0-5881-4ACE-54FB97A82DAD}"/>
              </a:ext>
            </a:extLst>
          </p:cNvPr>
          <p:cNvSpPr txBox="1"/>
          <p:nvPr/>
        </p:nvSpPr>
        <p:spPr>
          <a:xfrm>
            <a:off x="7737282" y="3275726"/>
            <a:ext cx="1800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智能体控制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1495719-6884-07EA-2FBC-CF1840C282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661" y="4318596"/>
            <a:ext cx="3705147" cy="83507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A6D0450-CF16-7D48-F524-BEEC73C724C5}"/>
              </a:ext>
            </a:extLst>
          </p:cNvPr>
          <p:cNvSpPr txBox="1"/>
          <p:nvPr/>
        </p:nvSpPr>
        <p:spPr>
          <a:xfrm>
            <a:off x="2106071" y="5652889"/>
            <a:ext cx="1800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视觉控制</a:t>
            </a:r>
          </a:p>
        </p:txBody>
      </p:sp>
      <p:pic>
        <p:nvPicPr>
          <p:cNvPr id="14" name="图片 13" descr="徽标&#10;&#10;AI 生成的内容可能不正确。">
            <a:extLst>
              <a:ext uri="{FF2B5EF4-FFF2-40B4-BE49-F238E27FC236}">
                <a16:creationId xmlns:a16="http://schemas.microsoft.com/office/drawing/2014/main" id="{28DB364C-8F3C-5D14-90EE-79330A7986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4319" y="4084565"/>
            <a:ext cx="1445988" cy="158271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1DD9424E-3734-2448-437A-C38FCCFD19DA}"/>
              </a:ext>
            </a:extLst>
          </p:cNvPr>
          <p:cNvSpPr txBox="1"/>
          <p:nvPr/>
        </p:nvSpPr>
        <p:spPr>
          <a:xfrm>
            <a:off x="7914319" y="5783621"/>
            <a:ext cx="1445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推荐系统</a:t>
            </a:r>
          </a:p>
        </p:txBody>
      </p:sp>
    </p:spTree>
    <p:extLst>
      <p:ext uri="{BB962C8B-B14F-4D97-AF65-F5344CB8AC3E}">
        <p14:creationId xmlns:p14="http://schemas.microsoft.com/office/powerpoint/2010/main" val="3235733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0835F6F-1061-EDAB-904B-341C284B7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实验结果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DD9E1CD-E8AF-D9D4-DAF2-DFEF87320E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198" y="1889793"/>
            <a:ext cx="6516802" cy="424820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C71479C-042E-8E6C-5FCE-785C1506DD2C}"/>
              </a:ext>
            </a:extLst>
          </p:cNvPr>
          <p:cNvSpPr txBox="1"/>
          <p:nvPr/>
        </p:nvSpPr>
        <p:spPr>
          <a:xfrm>
            <a:off x="7645400" y="2813565"/>
            <a:ext cx="43941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基础的对比实验，比较</a:t>
            </a:r>
            <a:r>
              <a:rPr lang="en-US" altLang="zh-CN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RBD</a:t>
            </a:r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Gradient</a:t>
            </a:r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两种策略在</a:t>
            </a:r>
            <a:r>
              <a:rPr lang="en-US" altLang="zh-CN" sz="2400" b="1" dirty="0" err="1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MuJoCo</a:t>
            </a:r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环境下的攻击表现和隐蔽能力</a:t>
            </a:r>
          </a:p>
        </p:txBody>
      </p:sp>
    </p:spTree>
    <p:extLst>
      <p:ext uri="{BB962C8B-B14F-4D97-AF65-F5344CB8AC3E}">
        <p14:creationId xmlns:p14="http://schemas.microsoft.com/office/powerpoint/2010/main" val="2337165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C67E1DF-C35B-2FE2-5114-8ABA9DE5F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实验结果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8D861E9-8ACE-5C32-0F66-301F8F20C4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825" y="1953116"/>
            <a:ext cx="5481392" cy="416877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A91B4A3-05EF-8ED4-44F8-4CEED345F3DC}"/>
              </a:ext>
            </a:extLst>
          </p:cNvPr>
          <p:cNvSpPr txBox="1"/>
          <p:nvPr/>
        </p:nvSpPr>
        <p:spPr>
          <a:xfrm>
            <a:off x="6657976" y="2467843"/>
            <a:ext cx="47593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分别对于两种策略的进一步消融实验，对于</a:t>
            </a:r>
            <a:r>
              <a:rPr lang="en-US" altLang="zh-CN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gradient</a:t>
            </a:r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策略区别黑白盒攻击以及是否预训练，对于</a:t>
            </a:r>
            <a:r>
              <a:rPr lang="en-US" altLang="zh-CN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RBD</a:t>
            </a:r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区别不同类型的</a:t>
            </a:r>
            <a:r>
              <a:rPr lang="en-US" altLang="zh-CN" sz="2400" b="1" dirty="0" err="1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dist</a:t>
            </a:r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建模</a:t>
            </a:r>
          </a:p>
        </p:txBody>
      </p:sp>
    </p:spTree>
    <p:extLst>
      <p:ext uri="{BB962C8B-B14F-4D97-AF65-F5344CB8AC3E}">
        <p14:creationId xmlns:p14="http://schemas.microsoft.com/office/powerpoint/2010/main" val="2959926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CFE8708-8BC3-173A-7DD8-A31EDC2D2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实验结果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A2248A4-19B6-1C00-AE29-5ADCBEDB87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99" y="2609851"/>
            <a:ext cx="7065213" cy="285115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62D6206-4E30-5426-612C-54FB6BE7F36A}"/>
              </a:ext>
            </a:extLst>
          </p:cNvPr>
          <p:cNvSpPr txBox="1"/>
          <p:nvPr/>
        </p:nvSpPr>
        <p:spPr>
          <a:xfrm>
            <a:off x="7878441" y="2783345"/>
            <a:ext cx="394314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虽然</a:t>
            </a:r>
            <a:r>
              <a:rPr lang="en-US" altLang="zh-CN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Promotion</a:t>
            </a:r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Demotion</a:t>
            </a:r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两种模式对应的策略是类似的，但是还是要进行区分实验，图中的是</a:t>
            </a:r>
            <a:r>
              <a:rPr lang="en-US" altLang="zh-CN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Atari</a:t>
            </a:r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环境下的</a:t>
            </a:r>
            <a:r>
              <a:rPr lang="en-US" altLang="zh-CN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Demotion</a:t>
            </a:r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攻击，可以看到效果一般，随投毒率增加缓慢上升。</a:t>
            </a:r>
          </a:p>
        </p:txBody>
      </p:sp>
    </p:spTree>
    <p:extLst>
      <p:ext uri="{BB962C8B-B14F-4D97-AF65-F5344CB8AC3E}">
        <p14:creationId xmlns:p14="http://schemas.microsoft.com/office/powerpoint/2010/main" val="2201164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3D51FC7-84A2-E73A-9D43-7EC9EE7AD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防御研究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87934D6-5273-DBC5-31B4-99CCD4285E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" y="2152650"/>
            <a:ext cx="6761176" cy="3448050"/>
          </a:xfrm>
          <a:prstGeom prst="rect">
            <a:avLst/>
          </a:prstGeom>
        </p:spPr>
      </p:pic>
      <p:sp>
        <p:nvSpPr>
          <p:cNvPr id="6" name="左大括号 5">
            <a:extLst>
              <a:ext uri="{FF2B5EF4-FFF2-40B4-BE49-F238E27FC236}">
                <a16:creationId xmlns:a16="http://schemas.microsoft.com/office/drawing/2014/main" id="{5E8831D3-583E-94EB-9F86-9E51A26314B6}"/>
              </a:ext>
            </a:extLst>
          </p:cNvPr>
          <p:cNvSpPr/>
          <p:nvPr/>
        </p:nvSpPr>
        <p:spPr>
          <a:xfrm>
            <a:off x="7364399" y="2705100"/>
            <a:ext cx="549418" cy="22479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7D7F886-D984-072E-193F-A417EEA9AB2C}"/>
              </a:ext>
            </a:extLst>
          </p:cNvPr>
          <p:cNvSpPr txBox="1"/>
          <p:nvPr/>
        </p:nvSpPr>
        <p:spPr>
          <a:xfrm>
            <a:off x="7913817" y="2474267"/>
            <a:ext cx="3310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谱异常检测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319182B-B6F0-2E54-2731-547AF61A0F51}"/>
              </a:ext>
            </a:extLst>
          </p:cNvPr>
          <p:cNvSpPr txBox="1"/>
          <p:nvPr/>
        </p:nvSpPr>
        <p:spPr>
          <a:xfrm>
            <a:off x="7913816" y="3630905"/>
            <a:ext cx="3310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训练</a:t>
            </a:r>
            <a:r>
              <a:rPr lang="en-US" altLang="zh-CN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-</a:t>
            </a:r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去毒迭代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C91A083-CE35-7323-A753-4988AE10D2AC}"/>
              </a:ext>
            </a:extLst>
          </p:cNvPr>
          <p:cNvSpPr txBox="1"/>
          <p:nvPr/>
        </p:nvSpPr>
        <p:spPr>
          <a:xfrm>
            <a:off x="7913816" y="4722167"/>
            <a:ext cx="3310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数据随机化</a:t>
            </a:r>
          </a:p>
        </p:txBody>
      </p:sp>
    </p:spTree>
    <p:extLst>
      <p:ext uri="{BB962C8B-B14F-4D97-AF65-F5344CB8AC3E}">
        <p14:creationId xmlns:p14="http://schemas.microsoft.com/office/powerpoint/2010/main" val="3864218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39F1173-8D8E-1372-96F1-0CFF13D9F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</a:p>
        </p:txBody>
      </p:sp>
      <p:sp>
        <p:nvSpPr>
          <p:cNvPr id="4" name="左大括号 3">
            <a:extLst>
              <a:ext uri="{FF2B5EF4-FFF2-40B4-BE49-F238E27FC236}">
                <a16:creationId xmlns:a16="http://schemas.microsoft.com/office/drawing/2014/main" id="{E3335249-0ADF-149E-3421-0EDE2A51DAE4}"/>
              </a:ext>
            </a:extLst>
          </p:cNvPr>
          <p:cNvSpPr/>
          <p:nvPr/>
        </p:nvSpPr>
        <p:spPr>
          <a:xfrm>
            <a:off x="963599" y="2120900"/>
            <a:ext cx="549418" cy="22479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73C9724-4205-1C04-240A-041225BC29F0}"/>
              </a:ext>
            </a:extLst>
          </p:cNvPr>
          <p:cNvSpPr txBox="1"/>
          <p:nvPr/>
        </p:nvSpPr>
        <p:spPr>
          <a:xfrm>
            <a:off x="1601917" y="1890067"/>
            <a:ext cx="5103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成对比较奖励模型中翻转攻击的建模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7D18190-A4D3-E169-4DEA-F663D2F9BA72}"/>
              </a:ext>
            </a:extLst>
          </p:cNvPr>
          <p:cNvSpPr txBox="1"/>
          <p:nvPr/>
        </p:nvSpPr>
        <p:spPr>
          <a:xfrm>
            <a:off x="1601916" y="2693338"/>
            <a:ext cx="5103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投影梯度上升算法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870842-423B-F963-84DE-90F1C8A07711}"/>
              </a:ext>
            </a:extLst>
          </p:cNvPr>
          <p:cNvSpPr txBox="1"/>
          <p:nvPr/>
        </p:nvSpPr>
        <p:spPr>
          <a:xfrm>
            <a:off x="1601915" y="3429000"/>
            <a:ext cx="5103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一系列</a:t>
            </a:r>
            <a:r>
              <a:rPr lang="en-US" altLang="zh-CN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RBD</a:t>
            </a:r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算法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9E7D1E-9E1C-A092-FBFD-0B9CDAD1AEE0}"/>
              </a:ext>
            </a:extLst>
          </p:cNvPr>
          <p:cNvSpPr txBox="1"/>
          <p:nvPr/>
        </p:nvSpPr>
        <p:spPr>
          <a:xfrm>
            <a:off x="1601914" y="4137967"/>
            <a:ext cx="5103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攻击有效性评估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D0B6958-3D45-EE35-BB36-C552C0E68C28}"/>
              </a:ext>
            </a:extLst>
          </p:cNvPr>
          <p:cNvSpPr txBox="1"/>
          <p:nvPr/>
        </p:nvSpPr>
        <p:spPr>
          <a:xfrm>
            <a:off x="7446641" y="2693338"/>
            <a:ext cx="5103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实际投毒可能性？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5B857C8-03B7-7A47-1979-B4D30969EC88}"/>
              </a:ext>
            </a:extLst>
          </p:cNvPr>
          <p:cNvSpPr txBox="1"/>
          <p:nvPr/>
        </p:nvSpPr>
        <p:spPr>
          <a:xfrm>
            <a:off x="2593875" y="5540371"/>
            <a:ext cx="2332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全面脆弱性分析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A46B91A-55C7-7097-505D-891FCD8427B7}"/>
              </a:ext>
            </a:extLst>
          </p:cNvPr>
          <p:cNvSpPr txBox="1"/>
          <p:nvPr/>
        </p:nvSpPr>
        <p:spPr>
          <a:xfrm>
            <a:off x="7599041" y="3758609"/>
            <a:ext cx="5103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生产防御可能？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EA7B860-18B0-912C-7791-F5E6AE397D6B}"/>
              </a:ext>
            </a:extLst>
          </p:cNvPr>
          <p:cNvSpPr txBox="1"/>
          <p:nvPr/>
        </p:nvSpPr>
        <p:spPr>
          <a:xfrm>
            <a:off x="5790399" y="5540371"/>
            <a:ext cx="33124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具体数据集与数据分布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5D80D52C-A12D-4802-A8E5-4A8DFBD0CA7C}"/>
              </a:ext>
            </a:extLst>
          </p:cNvPr>
          <p:cNvCxnSpPr/>
          <p:nvPr/>
        </p:nvCxnSpPr>
        <p:spPr>
          <a:xfrm>
            <a:off x="431800" y="5232400"/>
            <a:ext cx="11252200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0257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谢谢！</a:t>
            </a:r>
          </a:p>
        </p:txBody>
      </p:sp>
    </p:spTree>
    <p:extLst>
      <p:ext uri="{BB962C8B-B14F-4D97-AF65-F5344CB8AC3E}">
        <p14:creationId xmlns:p14="http://schemas.microsoft.com/office/powerpoint/2010/main" val="1362973645"/>
      </p:ext>
    </p:extLst>
  </p:cSld>
  <p:clrMapOvr>
    <a:masterClrMapping/>
  </p:clrMapOvr>
</p:sld>
</file>

<file path=ppt/theme/theme1.xml><?xml version="1.0" encoding="utf-8"?>
<a:theme xmlns:a="http://schemas.openxmlformats.org/drawingml/2006/main" name="2016-VI主题-蓝">
  <a:themeElements>
    <a:clrScheme name="VI蓝色版">
      <a:dk1>
        <a:srgbClr val="000000"/>
      </a:dk1>
      <a:lt1>
        <a:srgbClr val="FFFFFF"/>
      </a:lt1>
      <a:dk2>
        <a:srgbClr val="BD9F68"/>
      </a:dk2>
      <a:lt2>
        <a:srgbClr val="B5B5B6"/>
      </a:lt2>
      <a:accent1>
        <a:srgbClr val="004098"/>
      </a:accent1>
      <a:accent2>
        <a:srgbClr val="0086D1"/>
      </a:accent2>
      <a:accent3>
        <a:srgbClr val="338D27"/>
      </a:accent3>
      <a:accent4>
        <a:srgbClr val="00514E"/>
      </a:accent4>
      <a:accent5>
        <a:srgbClr val="FDD000"/>
      </a:accent5>
      <a:accent6>
        <a:srgbClr val="F08300"/>
      </a:accent6>
      <a:hlink>
        <a:srgbClr val="B5B5B6"/>
      </a:hlink>
      <a:folHlink>
        <a:srgbClr val="BD9F68"/>
      </a:folHlink>
    </a:clrScheme>
    <a:fontScheme name="自定义 7">
      <a:majorFont>
        <a:latin typeface="等线"/>
        <a:ea typeface="等线"/>
        <a:cs typeface=""/>
      </a:majorFont>
      <a:minorFont>
        <a:latin typeface="等线 Light"/>
        <a:ea typeface="等线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SJTU_Academic_16_9.potx" id="{1327D9DD-2B95-432F-9037-D619142060AB}" vid="{28352941-707B-475C-B522-029A3AD0C3E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答辩ppt</Template>
  <TotalTime>852</TotalTime>
  <Words>1447</Words>
  <Application>Microsoft Office PowerPoint</Application>
  <PresentationFormat>宽屏</PresentationFormat>
  <Paragraphs>110</Paragraphs>
  <Slides>12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等线</vt:lpstr>
      <vt:lpstr>等线 Light</vt:lpstr>
      <vt:lpstr>微软雅黑</vt:lpstr>
      <vt:lpstr>Arial</vt:lpstr>
      <vt:lpstr>Calibri</vt:lpstr>
      <vt:lpstr>Times New Roman</vt:lpstr>
      <vt:lpstr>2016-VI主题-蓝</vt:lpstr>
      <vt:lpstr>Preference Poisoning Attacks on Reward Model Learning</vt:lpstr>
      <vt:lpstr>文章概览</vt:lpstr>
      <vt:lpstr>成对偏好数据</vt:lpstr>
      <vt:lpstr>奖励模型和威胁建模</vt:lpstr>
      <vt:lpstr>攻击算法</vt:lpstr>
      <vt:lpstr>实验环境</vt:lpstr>
      <vt:lpstr>实验结果</vt:lpstr>
      <vt:lpstr>实验结果</vt:lpstr>
      <vt:lpstr>实验结果</vt:lpstr>
      <vt:lpstr>防御研究</vt:lpstr>
      <vt:lpstr>总结</vt:lpstr>
      <vt:lpstr>谢谢！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景韬 陈</dc:creator>
  <cp:lastModifiedBy>景韬 陈</cp:lastModifiedBy>
  <cp:revision>115</cp:revision>
  <dcterms:created xsi:type="dcterms:W3CDTF">2025-10-04T06:18:48Z</dcterms:created>
  <dcterms:modified xsi:type="dcterms:W3CDTF">2025-12-10T15:18:28Z</dcterms:modified>
</cp:coreProperties>
</file>